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58" r:id="rId4"/>
    <p:sldId id="261" r:id="rId5"/>
    <p:sldId id="259" r:id="rId6"/>
    <p:sldId id="276" r:id="rId7"/>
    <p:sldId id="264" r:id="rId8"/>
    <p:sldId id="263" r:id="rId9"/>
    <p:sldId id="273" r:id="rId10"/>
    <p:sldId id="274" r:id="rId11"/>
    <p:sldId id="275" r:id="rId12"/>
    <p:sldId id="262" r:id="rId13"/>
    <p:sldId id="265" r:id="rId14"/>
    <p:sldId id="267" r:id="rId15"/>
    <p:sldId id="268" r:id="rId16"/>
    <p:sldId id="269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28FD0-5536-46CF-A9B5-383FC4CF25F0}" v="2" dt="2026-08-08T02:53:12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5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D9CAF-DC26-419E-8B11-09857B664346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B2DE9-CA67-4F69-BBF5-40D681567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10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B2DE9-CA67-4F69-BBF5-40D6815671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2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9192" y="572770"/>
            <a:ext cx="275361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7467" y="399034"/>
            <a:ext cx="7497064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1086" y="399034"/>
            <a:ext cx="4031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SIMATS</a:t>
            </a:r>
            <a:r>
              <a:rPr sz="2800" spc="-140" dirty="0"/>
              <a:t> </a:t>
            </a:r>
            <a:r>
              <a:rPr sz="2800" spc="-10" dirty="0"/>
              <a:t>ENGINEERING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2514600" y="1113060"/>
            <a:ext cx="7479665" cy="333809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SCIENCES</a:t>
            </a:r>
            <a:endParaRPr lang="en-US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endParaRPr lang="en-US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endParaRPr sz="2400" b="1" dirty="0">
              <a:latin typeface="Times New Roman" panose="02020603050405020304"/>
              <a:cs typeface="Times New Roman" panose="02020603050405020304"/>
            </a:endParaRP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AI-Based Predictive Analytics for Smart Cities and Urban Planning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endParaRPr b="1" i="1" dirty="0">
              <a:latin typeface="Times New Roman" panose="02020603050405020304"/>
              <a:cs typeface="Times New Roman" panose="02020603050405020304"/>
            </a:endParaRPr>
          </a:p>
          <a:p>
            <a:pPr marL="9525" algn="ctr">
              <a:tabLst>
                <a:tab pos="1059815" algn="l"/>
              </a:tabLs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CSA1712 - ARTIFICIAL INTELLIGENCE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endParaRPr lang="en-IN"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588" y="4909566"/>
            <a:ext cx="3042412" cy="12388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26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US" sz="2600" b="1" spc="-25" dirty="0">
                <a:latin typeface="Times New Roman" panose="02020603050405020304"/>
                <a:cs typeface="Times New Roman" panose="02020603050405020304"/>
              </a:rPr>
              <a:t>:-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spc="-25" dirty="0">
                <a:latin typeface="Times New Roman" panose="02020603050405020304"/>
                <a:cs typeface="Times New Roman" panose="02020603050405020304"/>
              </a:rPr>
              <a:t>Dr. Veeramani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600" b="1" spc="-2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7000" y="4859872"/>
            <a:ext cx="5313680" cy="1340752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sz="2400" b="1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400" b="1" spc="-4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lang="en-IN" sz="2400" b="1" spc="-25" dirty="0">
              <a:solidFill>
                <a:srgbClr val="0C0C0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lang="en-IN" sz="2400" spc="-25" dirty="0" err="1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Bairagani</a:t>
            </a:r>
            <a:r>
              <a:rPr lang="en-IN" sz="2400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Dinesh(192372189)</a:t>
            </a:r>
          </a:p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lang="en-IN" sz="2400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Nellore </a:t>
            </a:r>
            <a:r>
              <a:rPr lang="en-IN" sz="2400" spc="-25" dirty="0" err="1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Srinadh</a:t>
            </a:r>
            <a:r>
              <a:rPr lang="en-IN" sz="2400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(192311086)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4255" y="475615"/>
            <a:ext cx="1134694" cy="13423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47555" y="328929"/>
            <a:ext cx="1519554" cy="1342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621053"/>
            <a:ext cx="7497064" cy="681340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7391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INTRODUCTION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00C91-9D94-F5A7-5DC5-1B1A7166CECE}"/>
              </a:ext>
            </a:extLst>
          </p:cNvPr>
          <p:cNvSpPr txBox="1"/>
          <p:nvPr/>
        </p:nvSpPr>
        <p:spPr>
          <a:xfrm>
            <a:off x="356870" y="1980125"/>
            <a:ext cx="8686799" cy="449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Data Growth: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Modern cities generate huge amounts of data through sensors, traffic cameras,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GPS systems, weather stations, public transportation, and social media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platforms.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Urban Data 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Managing urban resources manually is difficult because of the large volume and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complexity of city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Data 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Data Mining techniques help discover hidden patterns, trends, and relationships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from urban datasets for better city planning.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Predictive Analytics: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Predictive analytics enables city administrators to forecast traffic congestion, 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pollution levels, population growth, and infrastructure requirements.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Data Mining PowerPoint Template Designs - Standard License">
            <a:extLst>
              <a:ext uri="{FF2B5EF4-FFF2-40B4-BE49-F238E27FC236}">
                <a16:creationId xmlns:a16="http://schemas.microsoft.com/office/drawing/2014/main" id="{5A515A57-E144-6269-8012-6F84FAA12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800" y="2209800"/>
            <a:ext cx="2743200" cy="31026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1564" y="685800"/>
            <a:ext cx="7497064" cy="704214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46888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ABSTRACT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7" name="Text Box 6"/>
          <p:cNvSpPr txBox="1"/>
          <p:nvPr/>
        </p:nvSpPr>
        <p:spPr>
          <a:xfrm>
            <a:off x="416929" y="1676400"/>
            <a:ext cx="8422271" cy="46550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cities generate large amounts of data from sources such as traffic sensors, GPS devices, weather stations, public transportation systems, and government databases.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urban planning methods face difficulties in managing and analyzing this continuously growing data effectively.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Mining and Predictive Analytics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techniques to extract useful patterns, trends, and knowledge from urban datasets.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collects, preprocesses, and integrates data from multiple smart city sources to ensure accurate analysis.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mining algorithms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Clustering, Decision Tree, and Random Forest.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Introduction to Data Mining - GeeksforGeeks">
            <a:extLst>
              <a:ext uri="{FF2B5EF4-FFF2-40B4-BE49-F238E27FC236}">
                <a16:creationId xmlns:a16="http://schemas.microsoft.com/office/drawing/2014/main" id="{33E66B3A-4270-9426-021F-48B9327D0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2095500"/>
            <a:ext cx="2935871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5748" y="829311"/>
            <a:ext cx="7497064" cy="704214"/>
          </a:xfrm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100" dirty="0"/>
              <a:t> </a:t>
            </a:r>
            <a:r>
              <a:rPr spc="-10" dirty="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6B6B9F7-A960-B3FC-3C9D-2DD686A4ACF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73378" y="2743200"/>
            <a:ext cx="9909556" cy="28941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has increased challenges related to traffic congestion, pollution, energy consumption, and infrastructure management.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planning methods are unable to efficiently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large-scale urban data generated continuously by smart city devices.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administrators often lack real-time insights into urban conditions, resulting in delayed responses and inefficient resource utilization.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 that can collect,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predict, and visualize urban data to support effective smart city planning and management.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613700"/>
            <a:ext cx="7497064" cy="704214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OBJECTIVES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7" name="Text Box 6"/>
          <p:cNvSpPr txBox="1"/>
          <p:nvPr/>
        </p:nvSpPr>
        <p:spPr>
          <a:xfrm>
            <a:off x="356870" y="1524000"/>
            <a:ext cx="11676378" cy="498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F3B6C-A274-DB0F-A55D-D86D307651AF}"/>
              </a:ext>
            </a:extLst>
          </p:cNvPr>
          <p:cNvSpPr txBox="1"/>
          <p:nvPr/>
        </p:nvSpPr>
        <p:spPr>
          <a:xfrm>
            <a:off x="1400460" y="2471678"/>
            <a:ext cx="95891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integrate urban data from multiple smart city sources such as traffic sensors, GPS systems, weather stations, and public databases.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predictive analytics framework using data mining techniques for urban planning and smart city management.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traffic congestion patterns, pollution hotspots, and population growth trends.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centralized data warehouse for storing and managing urban data efficiently.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interactive visualization dashboard for city authorities to monitor and analyze urban conditions.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59BF-00FA-5D3E-E46E-1F46575B9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685800"/>
            <a:ext cx="2362200" cy="492443"/>
          </a:xfrm>
        </p:spPr>
        <p:txBody>
          <a:bodyPr/>
          <a:lstStyle/>
          <a:p>
            <a:r>
              <a:rPr lang="en-US" dirty="0"/>
              <a:t>DATA SET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4B463-38AD-59A8-48DF-049677633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217" y="1752600"/>
            <a:ext cx="9901535" cy="502297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consists of urban planning and smart city data collected from various sources.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Attributes:-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Volume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Speed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Density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Quality Index (AQI)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 Usage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Location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structured and semi-structured information suitable for predictive analytics and data mining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helps identify urban patterns and improve city planning strategies.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428B446-9F0F-40CA-D14E-33F219B020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988B780-CED4-5747-8966-37FB8FE149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0616" y="761801"/>
            <a:ext cx="4744026" cy="681340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LITERATURE REVIEW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r="2345" b="18684"/>
          <a:stretch>
            <a:fillRect/>
          </a:stretch>
        </p:blipFill>
        <p:spPr>
          <a:xfrm>
            <a:off x="1447706" y="1599954"/>
            <a:ext cx="9207685" cy="48960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B07EA7-4AA8-FF7A-D685-AF80A080E057}"/>
              </a:ext>
            </a:extLst>
          </p:cNvPr>
          <p:cNvSpPr txBox="1"/>
          <p:nvPr/>
        </p:nvSpPr>
        <p:spPr>
          <a:xfrm>
            <a:off x="1255649" y="1975504"/>
            <a:ext cx="9675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12DABF-9A5A-3630-D1A5-8DAF18240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82542"/>
              </p:ext>
            </p:extLst>
          </p:nvPr>
        </p:nvGraphicFramePr>
        <p:xfrm>
          <a:off x="924217" y="1916001"/>
          <a:ext cx="107442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50014882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573297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44085799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6773213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621508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2172081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566524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 /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Helpful for Our Study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068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Smart City Data Analytics for Urban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Mining &amp; Big Data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Identifies urban patterns from large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large amounts of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Improved city planning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Helps us understand urban data analysis techniques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Traffic Congestion Prediction Using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Predicts traffic congestion effectively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 depends on data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Improved traffic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Helps our traffic prediction module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186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Urban Pollution Monitoring Using IoT and Data Mining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IoT Sensors + Data Mining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pollution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sensor deployment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Detects pollution hotspots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Supports our pollution analysis module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6694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7467" y="399034"/>
            <a:ext cx="7497064" cy="565924"/>
          </a:xfrm>
          <a:prstGeom prst="rect">
            <a:avLst/>
          </a:prstGeom>
        </p:spPr>
        <p:txBody>
          <a:bodyPr vert="horz" wrap="square" lIns="0" tIns="72771" rIns="0" bIns="0" rtlCol="0">
            <a:spAutoFit/>
          </a:bodyPr>
          <a:lstStyle/>
          <a:p>
            <a:pPr marL="180721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SYSTEM DESIGN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2244" y="6474967"/>
            <a:ext cx="75057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z="12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820" y="1447800"/>
            <a:ext cx="8407400" cy="4257040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BF55B0-84C4-278B-D075-D71D3C8EC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691" y="1429766"/>
            <a:ext cx="8407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583833"/>
            <a:ext cx="80010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Preprocessing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2088C7B-CAEB-97CA-B317-D13F79289D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DD40B100-D3B7-718B-29E1-C61C4B3B68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B00F07D-3C1B-E326-5E1A-56ED2F93BE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" y="2127618"/>
            <a:ext cx="830579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Collects urban data from multiple sources such as traffic sensors, GPS devices, weather stations, public transportation systems, government databases, and social media platforms. </a:t>
            </a: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Gathers both real-time and historical city data for analysis. </a:t>
            </a: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duplicate, incomplete, and inconsistent records from the collected data. </a:t>
            </a: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missing values and corrects data quality issues. </a:t>
            </a: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data from different sources into a unified format. </a:t>
            </a: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Transforms and normalizes the data for efficient processing. </a:t>
            </a: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the cleaned and processed data in the centralized data warehouse for further analysis.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20BDA-0F3D-8F53-DBFA-50EA2AD66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776" y="2127618"/>
            <a:ext cx="3194048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863" y="616993"/>
            <a:ext cx="6390337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and Classification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F64864FD-F7D5-3CA2-F1EB-C81F6CA8FB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E0ECDDDE-4780-4F79-9174-8809228540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45F4DFA-BC67-E3E9-8581-F2DF5FBDE2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577" y="1952299"/>
            <a:ext cx="796802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Receives the cleaned and processed urban data from the preprocessing module.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data mining techniques to discover hidden patterns and relationships.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traffic zones, pollution hotspots, and population clusters.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algorithms for traffic congestion and resource demand prediction.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algorithms for urban growth forecasting and environmental analysis.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predictive insights and trend analysis for smart city planning.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the analytical results and predictions in the database for visualization and reporting. </a:t>
            </a:r>
          </a:p>
        </p:txBody>
      </p:sp>
      <p:pic>
        <p:nvPicPr>
          <p:cNvPr id="5" name="Picture 4" descr="Traffic Congestion Estimation and Control: A Comprehensive Review of the  Applied Computational Intelligence Models | Archives of Computational  Methods in Engineering | Springer Nature Link">
            <a:extLst>
              <a:ext uri="{FF2B5EF4-FFF2-40B4-BE49-F238E27FC236}">
                <a16:creationId xmlns:a16="http://schemas.microsoft.com/office/drawing/2014/main" id="{6B0FDAC9-A298-A2AC-0A6A-0AFA90956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255274"/>
            <a:ext cx="3086732" cy="32311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990600"/>
            <a:ext cx="10862187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and Reporting Module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45BA46D5-5165-2148-A254-0673F9F436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350E0C2B-AE87-9B5D-80F8-215C958282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C28623D-74F6-05C0-2EDA-C7BC48C6C0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7694" y="1981200"/>
            <a:ext cx="617219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Receives analytical results and predictions from the data mining module.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the results in a structured database for reporting and future analysis.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interactive dashboards for monitoring smart city activities.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traffic congestion analysis using charts and graphs.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Visualizes pollution levels and environmental conditions through maps and reports.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urban planning recommendations based on predictive analytics results.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27079-C085-225A-9EB6-71D17178D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465" y="2224515"/>
            <a:ext cx="3378135" cy="3642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2162" y="830375"/>
            <a:ext cx="3900933" cy="56746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METHODOLOGY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E9447F-DAAB-C238-CDD3-E7B26EAE9CC8}"/>
              </a:ext>
            </a:extLst>
          </p:cNvPr>
          <p:cNvSpPr txBox="1"/>
          <p:nvPr/>
        </p:nvSpPr>
        <p:spPr>
          <a:xfrm>
            <a:off x="1246804" y="2133600"/>
            <a:ext cx="1094765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Collect urban data from traffic sensors, GPS devices, weather stations, public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systems, and government databases.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Clean, integrate, transform, and normalize the collected data to improve quality and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Mining &amp; Analysis: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Apply data mining techniques such as K-Means Clustering to identify traffic zones,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pollution hotspots, and urban patterns.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Use Decision Tree and Random Forest algorithms to predict traffic congestion,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growth, and resource demand.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1318895">
              <a:lnSpc>
                <a:spcPct val="100000"/>
              </a:lnSpc>
              <a:spcBef>
                <a:spcPts val="105"/>
              </a:spcBef>
            </a:pPr>
            <a:r>
              <a:rPr dirty="0"/>
              <a:t>RESULTS</a:t>
            </a:r>
            <a:r>
              <a:rPr spc="-5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DISCUSSION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584695-1269-43A3-F89A-6A72460E3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52600"/>
            <a:ext cx="3352800" cy="39722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8C445F-7799-68B3-04D7-DCF1D5DFB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1425" y="1864526"/>
            <a:ext cx="4648200" cy="3748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162FE4-02EF-DAC4-6F54-96EACDCCD1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2224" y="1676400"/>
            <a:ext cx="25146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7121" y="609600"/>
            <a:ext cx="7497064" cy="704214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105"/>
              </a:spcBef>
            </a:pPr>
            <a:r>
              <a:rPr dirty="0"/>
              <a:t>CONCLUSION</a:t>
            </a:r>
            <a:r>
              <a:rPr spc="-7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FUTURE</a:t>
            </a:r>
            <a:r>
              <a:rPr spc="-40" dirty="0"/>
              <a:t> </a:t>
            </a:r>
            <a:r>
              <a:rPr spc="-10" dirty="0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68DE9-D27F-CAD0-0EF6-2A31ECF0F82D}"/>
              </a:ext>
            </a:extLst>
          </p:cNvPr>
          <p:cNvSpPr txBox="1"/>
          <p:nvPr/>
        </p:nvSpPr>
        <p:spPr>
          <a:xfrm>
            <a:off x="1143000" y="1828800"/>
            <a:ext cx="934611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Smart City Urban Planning System successfully utilizes Data Mining and Predictive Analytics techniques to analyze large-scale urban data.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identifies traffic congestion patterns, pollution hotspots, and urban growth trends.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mining algorithms help transform raw city data into meaningful insights for better decision-making.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and visualizations provide clear and real-time monitoring of urban conditions.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supports sustainable urban development by improving resource allocation, transportation planning, and city management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332" y="1488693"/>
            <a:ext cx="144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95" dirty="0">
                <a:latin typeface="Lucida Sans Unicode" panose="020B0602030504020204"/>
                <a:cs typeface="Lucida Sans Unicode" panose="020B0602030504020204"/>
              </a:rPr>
              <a:t>□</a:t>
            </a:r>
            <a:endParaRPr sz="1600" dirty="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4526127" y="974978"/>
            <a:ext cx="275361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404495"/>
            <a:ext cx="1134694" cy="13423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99675" y="408305"/>
            <a:ext cx="1519554" cy="13423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8" name="Text Box 7"/>
          <p:cNvSpPr txBox="1"/>
          <p:nvPr/>
        </p:nvSpPr>
        <p:spPr>
          <a:xfrm>
            <a:off x="927353" y="2362200"/>
            <a:ext cx="10896600" cy="37303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Cambria, E., Schuller, B., Xia, Y., &amp; Havasi, C. (2023). New Avenues in Opinion Mining and Sentiment Analysis. IEEE Intelligent Systems, 28(2), 15–21.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Devlin, J., Chang, M.-W., Lee, K., &amp; Toutanova, K. (2019).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Pre-training of Deep Bidirectional Transformers for Language Understanding. In Proceedings of NAACL-HLT.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Pak, A., &amp; Paroubek, P. (2010). Twitter as a Corpus for Sentiment Analysis and Opinion Mining. LREC 2010.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Feldman, R. (2013). Techniques and Applications for Sentiment Analysis. Communications of the ACM, 56(4), 82–89.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01015"/>
            <a:ext cx="1135773" cy="1343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2209" y="393700"/>
            <a:ext cx="1527809" cy="13491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5954" y="2056129"/>
            <a:ext cx="7806182" cy="37064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1220</Words>
  <Application>Microsoft Office PowerPoint</Application>
  <PresentationFormat>Widescreen</PresentationFormat>
  <Paragraphs>163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Lucida Sans Unicode</vt:lpstr>
      <vt:lpstr>Times New Roman</vt:lpstr>
      <vt:lpstr>Office Theme</vt:lpstr>
      <vt:lpstr>SIMATS ENGINEERING</vt:lpstr>
      <vt:lpstr>INTRODUCTION</vt:lpstr>
      <vt:lpstr>ABSTRACT</vt:lpstr>
      <vt:lpstr>PROBLEM STATEMENT</vt:lpstr>
      <vt:lpstr>OBJECTIVES</vt:lpstr>
      <vt:lpstr>DATA SET</vt:lpstr>
      <vt:lpstr>LITERATURE REVIEW</vt:lpstr>
      <vt:lpstr>SYSTEM DESIGN</vt:lpstr>
      <vt:lpstr>Module 1:Data Collection and Preprocessing Module</vt:lpstr>
      <vt:lpstr>Module 2: Sentiment Analysis and Classification Module</vt:lpstr>
      <vt:lpstr>Module 3: Visualization and Reporting Module</vt:lpstr>
      <vt:lpstr>METHODOLOGY</vt:lpstr>
      <vt:lpstr>RESULTS &amp; DISCUSSION</vt:lpstr>
      <vt:lpstr>CONCLUSION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BASKARAN S</dc:creator>
  <cp:lastModifiedBy>dineshyadavbairagani@gmail.com</cp:lastModifiedBy>
  <cp:revision>10</cp:revision>
  <dcterms:created xsi:type="dcterms:W3CDTF">2026-01-09T01:43:09Z</dcterms:created>
  <dcterms:modified xsi:type="dcterms:W3CDTF">2026-08-08T02:55:51Z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2025-11-27T05:30:00Z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2026-01-09T05:30:00Z</vt:filetime>
  </property>
  <property fmtid="{D5CDD505-2E9C-101B-9397-08002B2CF9AE}" pid="5" name="Producer">
    <vt:lpwstr>Microsoft® Word 2019</vt:lpwstr>
  </property>
  <property fmtid="{D5CDD505-2E9C-101B-9397-08002B2CF9AE}" pid="6" name="ICV">
    <vt:lpwstr>D2C67E8E397C4C73BF307D1014DD8300_12</vt:lpwstr>
  </property>
  <property fmtid="{D5CDD505-2E9C-101B-9397-08002B2CF9AE}" pid="7" name="KSOProductBuildVer">
    <vt:lpwstr>1033-12.2.0.23196</vt:lpwstr>
  </property>
</Properties>
</file>